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72" r:id="rId10"/>
    <p:sldId id="273" r:id="rId11"/>
    <p:sldId id="267" r:id="rId12"/>
    <p:sldId id="268" r:id="rId13"/>
    <p:sldId id="269" r:id="rId14"/>
    <p:sldId id="270" r:id="rId15"/>
    <p:sldId id="271" r:id="rId16"/>
    <p:sldId id="259" r:id="rId17"/>
    <p:sldId id="261" r:id="rId18"/>
    <p:sldId id="260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167C87-4B51-4D82-980C-9127B02FD474}" v="3" dt="2025-11-05T06:14:32.9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1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d Dere" userId="89da2cdd527dfaa4" providerId="LiveId" clId="{71D5CF29-3FF0-49DB-9D82-8D2B785BCA6B}"/>
    <pc:docChg chg="custSel modSld">
      <pc:chgData name="Nishad Dere" userId="89da2cdd527dfaa4" providerId="LiveId" clId="{71D5CF29-3FF0-49DB-9D82-8D2B785BCA6B}" dt="2025-11-05T07:08:05.675" v="26" actId="1076"/>
      <pc:docMkLst>
        <pc:docMk/>
      </pc:docMkLst>
      <pc:sldChg chg="modSp mod">
        <pc:chgData name="Nishad Dere" userId="89da2cdd527dfaa4" providerId="LiveId" clId="{71D5CF29-3FF0-49DB-9D82-8D2B785BCA6B}" dt="2025-11-05T06:36:48.050" v="25" actId="255"/>
        <pc:sldMkLst>
          <pc:docMk/>
          <pc:sldMk cId="0" sldId="256"/>
        </pc:sldMkLst>
        <pc:spChg chg="mod">
          <ac:chgData name="Nishad Dere" userId="89da2cdd527dfaa4" providerId="LiveId" clId="{71D5CF29-3FF0-49DB-9D82-8D2B785BCA6B}" dt="2025-11-05T06:36:48.050" v="25" actId="255"/>
          <ac:spMkLst>
            <pc:docMk/>
            <pc:sldMk cId="0" sldId="256"/>
            <ac:spMk id="13" creationId="{34B5E97E-592A-6FF2-272C-E44000D89C20}"/>
          </ac:spMkLst>
        </pc:spChg>
      </pc:sldChg>
      <pc:sldChg chg="addSp modSp mod">
        <pc:chgData name="Nishad Dere" userId="89da2cdd527dfaa4" providerId="LiveId" clId="{71D5CF29-3FF0-49DB-9D82-8D2B785BCA6B}" dt="2025-11-05T04:24:02.805" v="3" actId="1076"/>
        <pc:sldMkLst>
          <pc:docMk/>
          <pc:sldMk cId="1654417385" sldId="266"/>
        </pc:sldMkLst>
        <pc:picChg chg="add mod">
          <ac:chgData name="Nishad Dere" userId="89da2cdd527dfaa4" providerId="LiveId" clId="{71D5CF29-3FF0-49DB-9D82-8D2B785BCA6B}" dt="2025-11-05T04:24:02.805" v="3" actId="1076"/>
          <ac:picMkLst>
            <pc:docMk/>
            <pc:sldMk cId="1654417385" sldId="266"/>
            <ac:picMk id="10" creationId="{E044B918-43E8-0B23-1C5F-0A130BEEB0AC}"/>
          </ac:picMkLst>
        </pc:picChg>
      </pc:sldChg>
      <pc:sldChg chg="addSp modSp mod">
        <pc:chgData name="Nishad Dere" userId="89da2cdd527dfaa4" providerId="LiveId" clId="{71D5CF29-3FF0-49DB-9D82-8D2B785BCA6B}" dt="2025-11-05T04:24:51.145" v="5" actId="1076"/>
        <pc:sldMkLst>
          <pc:docMk/>
          <pc:sldMk cId="3299047327" sldId="267"/>
        </pc:sldMkLst>
        <pc:picChg chg="add mod">
          <ac:chgData name="Nishad Dere" userId="89da2cdd527dfaa4" providerId="LiveId" clId="{71D5CF29-3FF0-49DB-9D82-8D2B785BCA6B}" dt="2025-11-05T04:24:51.145" v="5" actId="1076"/>
          <ac:picMkLst>
            <pc:docMk/>
            <pc:sldMk cId="3299047327" sldId="267"/>
            <ac:picMk id="10" creationId="{138F6E2C-57DA-1D6F-D930-EE7AC81B9C2F}"/>
          </ac:picMkLst>
        </pc:picChg>
      </pc:sldChg>
      <pc:sldChg chg="addSp modSp mod">
        <pc:chgData name="Nishad Dere" userId="89da2cdd527dfaa4" providerId="LiveId" clId="{71D5CF29-3FF0-49DB-9D82-8D2B785BCA6B}" dt="2025-11-05T07:08:05.675" v="26" actId="1076"/>
        <pc:sldMkLst>
          <pc:docMk/>
          <pc:sldMk cId="445188596" sldId="272"/>
        </pc:sldMkLst>
        <pc:spChg chg="add mod">
          <ac:chgData name="Nishad Dere" userId="89da2cdd527dfaa4" providerId="LiveId" clId="{71D5CF29-3FF0-49DB-9D82-8D2B785BCA6B}" dt="2025-11-05T06:14:29.240" v="24" actId="1076"/>
          <ac:spMkLst>
            <pc:docMk/>
            <pc:sldMk cId="445188596" sldId="272"/>
            <ac:spMk id="13" creationId="{800D9922-74C6-C8BF-E25C-3D709EB11329}"/>
          </ac:spMkLst>
        </pc:spChg>
        <pc:picChg chg="add mod">
          <ac:chgData name="Nishad Dere" userId="89da2cdd527dfaa4" providerId="LiveId" clId="{71D5CF29-3FF0-49DB-9D82-8D2B785BCA6B}" dt="2025-11-05T07:08:05.675" v="26" actId="1076"/>
          <ac:picMkLst>
            <pc:docMk/>
            <pc:sldMk cId="445188596" sldId="272"/>
            <ac:picMk id="8" creationId="{9AAE5B6B-7ABA-8289-CC1E-5E85E471AA69}"/>
          </ac:picMkLst>
        </pc:picChg>
        <pc:picChg chg="mod">
          <ac:chgData name="Nishad Dere" userId="89da2cdd527dfaa4" providerId="LiveId" clId="{71D5CF29-3FF0-49DB-9D82-8D2B785BCA6B}" dt="2025-11-05T06:13:48.266" v="11" actId="1076"/>
          <ac:picMkLst>
            <pc:docMk/>
            <pc:sldMk cId="445188596" sldId="272"/>
            <ac:picMk id="10" creationId="{134F5748-3F9A-EE03-8327-D10BA5F1735C}"/>
          </ac:picMkLst>
        </pc:picChg>
        <pc:cxnChg chg="add mod">
          <ac:chgData name="Nishad Dere" userId="89da2cdd527dfaa4" providerId="LiveId" clId="{71D5CF29-3FF0-49DB-9D82-8D2B785BCA6B}" dt="2025-11-05T06:13:55.848" v="12" actId="14100"/>
          <ac:cxnSpMkLst>
            <pc:docMk/>
            <pc:sldMk cId="445188596" sldId="272"/>
            <ac:cxnSpMk id="11" creationId="{E4813480-A60B-7CFB-D75F-39B6EF5CCC9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864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4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4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4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55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18"/>
                </a:moveTo>
                <a:lnTo>
                  <a:pt x="3577" y="281165"/>
                </a:lnTo>
                <a:lnTo>
                  <a:pt x="13968" y="234633"/>
                </a:lnTo>
                <a:lnTo>
                  <a:pt x="30663" y="190832"/>
                </a:lnTo>
                <a:lnTo>
                  <a:pt x="53151" y="150274"/>
                </a:lnTo>
                <a:lnTo>
                  <a:pt x="80923" y="113467"/>
                </a:lnTo>
                <a:lnTo>
                  <a:pt x="113467" y="80923"/>
                </a:lnTo>
                <a:lnTo>
                  <a:pt x="150274" y="53151"/>
                </a:lnTo>
                <a:lnTo>
                  <a:pt x="190832" y="30663"/>
                </a:lnTo>
                <a:lnTo>
                  <a:pt x="234633" y="13968"/>
                </a:lnTo>
                <a:lnTo>
                  <a:pt x="281165" y="3577"/>
                </a:lnTo>
                <a:lnTo>
                  <a:pt x="329918" y="0"/>
                </a:lnTo>
                <a:lnTo>
                  <a:pt x="8683453" y="0"/>
                </a:lnTo>
                <a:lnTo>
                  <a:pt x="8735375" y="4109"/>
                </a:lnTo>
                <a:lnTo>
                  <a:pt x="8785551" y="16194"/>
                </a:lnTo>
                <a:lnTo>
                  <a:pt x="8833095" y="35888"/>
                </a:lnTo>
                <a:lnTo>
                  <a:pt x="8877120" y="62822"/>
                </a:lnTo>
                <a:lnTo>
                  <a:pt x="8916741" y="96630"/>
                </a:lnTo>
                <a:lnTo>
                  <a:pt x="8950549" y="136251"/>
                </a:lnTo>
                <a:lnTo>
                  <a:pt x="8977483" y="180276"/>
                </a:lnTo>
                <a:lnTo>
                  <a:pt x="8997177" y="227820"/>
                </a:lnTo>
                <a:lnTo>
                  <a:pt x="9009262" y="277995"/>
                </a:lnTo>
                <a:lnTo>
                  <a:pt x="9013371" y="329918"/>
                </a:lnTo>
                <a:lnTo>
                  <a:pt x="9013371" y="6363489"/>
                </a:lnTo>
                <a:lnTo>
                  <a:pt x="9009794" y="6412242"/>
                </a:lnTo>
                <a:lnTo>
                  <a:pt x="8999403" y="6458774"/>
                </a:lnTo>
                <a:lnTo>
                  <a:pt x="8982708" y="6502575"/>
                </a:lnTo>
                <a:lnTo>
                  <a:pt x="8960219" y="6543133"/>
                </a:lnTo>
                <a:lnTo>
                  <a:pt x="8932448" y="6579940"/>
                </a:lnTo>
                <a:lnTo>
                  <a:pt x="8899904" y="6612484"/>
                </a:lnTo>
                <a:lnTo>
                  <a:pt x="8863097" y="6640256"/>
                </a:lnTo>
                <a:lnTo>
                  <a:pt x="8822538" y="6662744"/>
                </a:lnTo>
                <a:lnTo>
                  <a:pt x="8778738" y="6679439"/>
                </a:lnTo>
                <a:lnTo>
                  <a:pt x="8732206" y="6689831"/>
                </a:lnTo>
                <a:lnTo>
                  <a:pt x="8683453" y="6693408"/>
                </a:lnTo>
                <a:lnTo>
                  <a:pt x="329918" y="6693408"/>
                </a:lnTo>
                <a:lnTo>
                  <a:pt x="281165" y="6689831"/>
                </a:lnTo>
                <a:lnTo>
                  <a:pt x="234633" y="6679439"/>
                </a:lnTo>
                <a:lnTo>
                  <a:pt x="190832" y="6662744"/>
                </a:lnTo>
                <a:lnTo>
                  <a:pt x="150274" y="6640256"/>
                </a:lnTo>
                <a:lnTo>
                  <a:pt x="113467" y="6612484"/>
                </a:lnTo>
                <a:lnTo>
                  <a:pt x="80923" y="6579940"/>
                </a:lnTo>
                <a:lnTo>
                  <a:pt x="53151" y="6543133"/>
                </a:lnTo>
                <a:lnTo>
                  <a:pt x="30663" y="6502575"/>
                </a:lnTo>
                <a:lnTo>
                  <a:pt x="13968" y="6458774"/>
                </a:lnTo>
                <a:lnTo>
                  <a:pt x="3577" y="6412242"/>
                </a:lnTo>
                <a:lnTo>
                  <a:pt x="0" y="6363489"/>
                </a:lnTo>
                <a:lnTo>
                  <a:pt x="0" y="32991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55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18"/>
                </a:moveTo>
                <a:lnTo>
                  <a:pt x="3577" y="281165"/>
                </a:lnTo>
                <a:lnTo>
                  <a:pt x="13968" y="234633"/>
                </a:lnTo>
                <a:lnTo>
                  <a:pt x="30663" y="190832"/>
                </a:lnTo>
                <a:lnTo>
                  <a:pt x="53151" y="150274"/>
                </a:lnTo>
                <a:lnTo>
                  <a:pt x="80923" y="113467"/>
                </a:lnTo>
                <a:lnTo>
                  <a:pt x="113467" y="80923"/>
                </a:lnTo>
                <a:lnTo>
                  <a:pt x="150274" y="53151"/>
                </a:lnTo>
                <a:lnTo>
                  <a:pt x="190832" y="30663"/>
                </a:lnTo>
                <a:lnTo>
                  <a:pt x="234633" y="13968"/>
                </a:lnTo>
                <a:lnTo>
                  <a:pt x="281165" y="3577"/>
                </a:lnTo>
                <a:lnTo>
                  <a:pt x="329918" y="0"/>
                </a:lnTo>
                <a:lnTo>
                  <a:pt x="8683453" y="0"/>
                </a:lnTo>
                <a:lnTo>
                  <a:pt x="8735375" y="4109"/>
                </a:lnTo>
                <a:lnTo>
                  <a:pt x="8785551" y="16194"/>
                </a:lnTo>
                <a:lnTo>
                  <a:pt x="8833095" y="35888"/>
                </a:lnTo>
                <a:lnTo>
                  <a:pt x="8877120" y="62822"/>
                </a:lnTo>
                <a:lnTo>
                  <a:pt x="8916741" y="96630"/>
                </a:lnTo>
                <a:lnTo>
                  <a:pt x="8950549" y="136251"/>
                </a:lnTo>
                <a:lnTo>
                  <a:pt x="8977483" y="180276"/>
                </a:lnTo>
                <a:lnTo>
                  <a:pt x="8997177" y="227820"/>
                </a:lnTo>
                <a:lnTo>
                  <a:pt x="9009262" y="277995"/>
                </a:lnTo>
                <a:lnTo>
                  <a:pt x="9013371" y="329918"/>
                </a:lnTo>
                <a:lnTo>
                  <a:pt x="9013371" y="6363489"/>
                </a:lnTo>
                <a:lnTo>
                  <a:pt x="9009794" y="6412242"/>
                </a:lnTo>
                <a:lnTo>
                  <a:pt x="8999403" y="6458774"/>
                </a:lnTo>
                <a:lnTo>
                  <a:pt x="8982708" y="6502575"/>
                </a:lnTo>
                <a:lnTo>
                  <a:pt x="8960219" y="6543133"/>
                </a:lnTo>
                <a:lnTo>
                  <a:pt x="8932448" y="6579940"/>
                </a:lnTo>
                <a:lnTo>
                  <a:pt x="8899904" y="6612484"/>
                </a:lnTo>
                <a:lnTo>
                  <a:pt x="8863097" y="6640256"/>
                </a:lnTo>
                <a:lnTo>
                  <a:pt x="8822538" y="6662744"/>
                </a:lnTo>
                <a:lnTo>
                  <a:pt x="8778738" y="6679439"/>
                </a:lnTo>
                <a:lnTo>
                  <a:pt x="8732206" y="6689831"/>
                </a:lnTo>
                <a:lnTo>
                  <a:pt x="8683453" y="6693408"/>
                </a:lnTo>
                <a:lnTo>
                  <a:pt x="329918" y="6693408"/>
                </a:lnTo>
                <a:lnTo>
                  <a:pt x="281165" y="6689831"/>
                </a:lnTo>
                <a:lnTo>
                  <a:pt x="234633" y="6679439"/>
                </a:lnTo>
                <a:lnTo>
                  <a:pt x="190832" y="6662744"/>
                </a:lnTo>
                <a:lnTo>
                  <a:pt x="150274" y="6640256"/>
                </a:lnTo>
                <a:lnTo>
                  <a:pt x="113467" y="6612484"/>
                </a:lnTo>
                <a:lnTo>
                  <a:pt x="80923" y="6579940"/>
                </a:lnTo>
                <a:lnTo>
                  <a:pt x="53151" y="6543133"/>
                </a:lnTo>
                <a:lnTo>
                  <a:pt x="30663" y="6502575"/>
                </a:lnTo>
                <a:lnTo>
                  <a:pt x="13968" y="6458774"/>
                </a:lnTo>
                <a:lnTo>
                  <a:pt x="3577" y="6412242"/>
                </a:lnTo>
                <a:lnTo>
                  <a:pt x="0" y="6363489"/>
                </a:lnTo>
                <a:lnTo>
                  <a:pt x="0" y="32991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0825" y="39780"/>
            <a:ext cx="7131684" cy="1286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8646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500" y="1616455"/>
            <a:ext cx="3851275" cy="386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92378" y="6331767"/>
            <a:ext cx="17780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postgresql.org/docs/" TargetMode="External"/><Relationship Id="rId4" Type="http://schemas.openxmlformats.org/officeDocument/2006/relationships/hyperlink" Target="https://www.mongodb.com/docs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550" y="64992"/>
            <a:ext cx="9023985" cy="6701790"/>
            <a:chOff x="60550" y="64992"/>
            <a:chExt cx="9023985" cy="67017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13" y="69755"/>
              <a:ext cx="9013372" cy="6692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13" y="69755"/>
              <a:ext cx="9013825" cy="6692265"/>
            </a:xfrm>
            <a:custGeom>
              <a:avLst/>
              <a:gdLst/>
              <a:ahLst/>
              <a:cxnLst/>
              <a:rect l="l" t="t" r="r" b="b"/>
              <a:pathLst>
                <a:path w="9013825" h="6692265">
                  <a:moveTo>
                    <a:pt x="0" y="329858"/>
                  </a:moveTo>
                  <a:lnTo>
                    <a:pt x="3576" y="281114"/>
                  </a:lnTo>
                  <a:lnTo>
                    <a:pt x="13965" y="234591"/>
                  </a:lnTo>
                  <a:lnTo>
                    <a:pt x="30657" y="190798"/>
                  </a:lnTo>
                  <a:lnTo>
                    <a:pt x="53142" y="150247"/>
                  </a:lnTo>
                  <a:lnTo>
                    <a:pt x="80908" y="113447"/>
                  </a:lnTo>
                  <a:lnTo>
                    <a:pt x="113447" y="80908"/>
                  </a:lnTo>
                  <a:lnTo>
                    <a:pt x="150247" y="53142"/>
                  </a:lnTo>
                  <a:lnTo>
                    <a:pt x="190798" y="30657"/>
                  </a:lnTo>
                  <a:lnTo>
                    <a:pt x="234591" y="13965"/>
                  </a:lnTo>
                  <a:lnTo>
                    <a:pt x="281114" y="3576"/>
                  </a:lnTo>
                  <a:lnTo>
                    <a:pt x="329858" y="0"/>
                  </a:lnTo>
                  <a:lnTo>
                    <a:pt x="8683513" y="0"/>
                  </a:lnTo>
                  <a:lnTo>
                    <a:pt x="8735426" y="4109"/>
                  </a:lnTo>
                  <a:lnTo>
                    <a:pt x="8785592" y="16192"/>
                  </a:lnTo>
                  <a:lnTo>
                    <a:pt x="8833127" y="35881"/>
                  </a:lnTo>
                  <a:lnTo>
                    <a:pt x="8877145" y="62811"/>
                  </a:lnTo>
                  <a:lnTo>
                    <a:pt x="8916758" y="96613"/>
                  </a:lnTo>
                  <a:lnTo>
                    <a:pt x="8950560" y="136226"/>
                  </a:lnTo>
                  <a:lnTo>
                    <a:pt x="8977490" y="180244"/>
                  </a:lnTo>
                  <a:lnTo>
                    <a:pt x="8997179" y="227779"/>
                  </a:lnTo>
                  <a:lnTo>
                    <a:pt x="9009262" y="277945"/>
                  </a:lnTo>
                  <a:lnTo>
                    <a:pt x="9013371" y="329858"/>
                  </a:lnTo>
                  <a:lnTo>
                    <a:pt x="9013371" y="6362342"/>
                  </a:lnTo>
                  <a:lnTo>
                    <a:pt x="9009795" y="6411086"/>
                  </a:lnTo>
                  <a:lnTo>
                    <a:pt x="8999406" y="6457609"/>
                  </a:lnTo>
                  <a:lnTo>
                    <a:pt x="8982714" y="6501402"/>
                  </a:lnTo>
                  <a:lnTo>
                    <a:pt x="8960229" y="6541953"/>
                  </a:lnTo>
                  <a:lnTo>
                    <a:pt x="8932463" y="6578754"/>
                  </a:lnTo>
                  <a:lnTo>
                    <a:pt x="8899924" y="6611292"/>
                  </a:lnTo>
                  <a:lnTo>
                    <a:pt x="8863124" y="6639058"/>
                  </a:lnTo>
                  <a:lnTo>
                    <a:pt x="8822573" y="6661543"/>
                  </a:lnTo>
                  <a:lnTo>
                    <a:pt x="8778781" y="6678235"/>
                  </a:lnTo>
                  <a:lnTo>
                    <a:pt x="8732257" y="6688624"/>
                  </a:lnTo>
                  <a:lnTo>
                    <a:pt x="8683513" y="6692201"/>
                  </a:lnTo>
                  <a:lnTo>
                    <a:pt x="329858" y="6692201"/>
                  </a:lnTo>
                  <a:lnTo>
                    <a:pt x="281114" y="6688624"/>
                  </a:lnTo>
                  <a:lnTo>
                    <a:pt x="234591" y="6678235"/>
                  </a:lnTo>
                  <a:lnTo>
                    <a:pt x="190798" y="6661543"/>
                  </a:lnTo>
                  <a:lnTo>
                    <a:pt x="150247" y="6639058"/>
                  </a:lnTo>
                  <a:lnTo>
                    <a:pt x="113447" y="6611292"/>
                  </a:lnTo>
                  <a:lnTo>
                    <a:pt x="80908" y="6578754"/>
                  </a:lnTo>
                  <a:lnTo>
                    <a:pt x="53142" y="6541953"/>
                  </a:lnTo>
                  <a:lnTo>
                    <a:pt x="30657" y="6501402"/>
                  </a:lnTo>
                  <a:lnTo>
                    <a:pt x="13965" y="6457609"/>
                  </a:lnTo>
                  <a:lnTo>
                    <a:pt x="3576" y="6411086"/>
                  </a:lnTo>
                  <a:lnTo>
                    <a:pt x="0" y="6362342"/>
                  </a:lnTo>
                  <a:lnTo>
                    <a:pt x="0" y="329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" y="1396720"/>
              <a:ext cx="9022080" cy="120650"/>
            </a:xfrm>
            <a:custGeom>
              <a:avLst/>
              <a:gdLst/>
              <a:ahLst/>
              <a:cxnLst/>
              <a:rect l="l" t="t" r="r" b="b"/>
              <a:pathLst>
                <a:path w="9022080" h="120650">
                  <a:moveTo>
                    <a:pt x="9021536" y="120579"/>
                  </a:moveTo>
                  <a:lnTo>
                    <a:pt x="0" y="120579"/>
                  </a:lnTo>
                  <a:lnTo>
                    <a:pt x="0" y="0"/>
                  </a:lnTo>
                  <a:lnTo>
                    <a:pt x="9021536" y="0"/>
                  </a:lnTo>
                  <a:lnTo>
                    <a:pt x="9021536" y="120579"/>
                  </a:lnTo>
                  <a:close/>
                </a:path>
              </a:pathLst>
            </a:custGeom>
            <a:solidFill>
              <a:srgbClr val="E6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931" y="2976649"/>
              <a:ext cx="9022080" cy="111125"/>
            </a:xfrm>
            <a:custGeom>
              <a:avLst/>
              <a:gdLst/>
              <a:ahLst/>
              <a:cxnLst/>
              <a:rect l="l" t="t" r="r" b="b"/>
              <a:pathLst>
                <a:path w="9022080" h="111125">
                  <a:moveTo>
                    <a:pt x="9021536" y="110531"/>
                  </a:moveTo>
                  <a:lnTo>
                    <a:pt x="0" y="110531"/>
                  </a:lnTo>
                  <a:lnTo>
                    <a:pt x="0" y="0"/>
                  </a:lnTo>
                  <a:lnTo>
                    <a:pt x="9021536" y="0"/>
                  </a:lnTo>
                  <a:lnTo>
                    <a:pt x="9021536" y="110531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81200" y="3659080"/>
            <a:ext cx="5638799" cy="2708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7F7F7F"/>
                </a:solidFill>
                <a:latin typeface="Times New Roman"/>
                <a:cs typeface="Times New Roman"/>
              </a:rPr>
              <a:t>Course: Database</a:t>
            </a:r>
            <a:r>
              <a:rPr lang="en-US" sz="2800" b="1" spc="-10" dirty="0">
                <a:solidFill>
                  <a:srgbClr val="7F7F7F"/>
                </a:solidFill>
                <a:latin typeface="Times New Roman"/>
                <a:cs typeface="Times New Roman"/>
              </a:rPr>
              <a:t> Management System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600" spc="-25" dirty="0">
                <a:solidFill>
                  <a:srgbClr val="686464"/>
                </a:solidFill>
                <a:latin typeface="Times New Roman"/>
                <a:cs typeface="Times New Roman"/>
              </a:rPr>
              <a:t>By</a:t>
            </a:r>
            <a:endParaRPr sz="26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lang="en-US" sz="1800" b="1" dirty="0">
                <a:solidFill>
                  <a:srgbClr val="686464"/>
                </a:solidFill>
                <a:latin typeface="Times New Roman"/>
                <a:cs typeface="Times New Roman"/>
              </a:rPr>
              <a:t>Nishad Dere</a:t>
            </a:r>
          </a:p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sz="1800" b="1" dirty="0">
                <a:solidFill>
                  <a:srgbClr val="686464"/>
                </a:solidFill>
                <a:latin typeface="Times New Roman"/>
                <a:cs typeface="Times New Roman"/>
              </a:rPr>
              <a:t>Div</a:t>
            </a:r>
            <a:r>
              <a:rPr lang="en-US" sz="1800" b="1" dirty="0">
                <a:solidFill>
                  <a:srgbClr val="686464"/>
                </a:solidFill>
                <a:latin typeface="Times New Roman"/>
                <a:cs typeface="Times New Roman"/>
              </a:rPr>
              <a:t> B</a:t>
            </a:r>
            <a:r>
              <a:rPr sz="1800" b="1" dirty="0">
                <a:solidFill>
                  <a:srgbClr val="686464"/>
                </a:solidFill>
                <a:latin typeface="Times New Roman"/>
                <a:cs typeface="Times New Roman"/>
              </a:rPr>
              <a:t>,</a:t>
            </a:r>
            <a:r>
              <a:rPr sz="1800" b="1" spc="-5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>
                <a:solidFill>
                  <a:srgbClr val="686464"/>
                </a:solidFill>
                <a:latin typeface="Times New Roman"/>
                <a:cs typeface="Times New Roman"/>
              </a:rPr>
              <a:t>PRN - 1032231906</a:t>
            </a:r>
            <a:r>
              <a:rPr sz="1800" b="1" dirty="0">
                <a:solidFill>
                  <a:srgbClr val="686464"/>
                </a:solidFill>
                <a:latin typeface="Times New Roman"/>
                <a:cs typeface="Times New Roman"/>
              </a:rPr>
              <a:t>,</a:t>
            </a:r>
            <a:r>
              <a:rPr sz="1800" b="1" spc="-5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>
                <a:solidFill>
                  <a:srgbClr val="686464"/>
                </a:solidFill>
                <a:latin typeface="Times New Roman"/>
                <a:cs typeface="Times New Roman"/>
              </a:rPr>
              <a:t>Batch – G2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31" y="2177739"/>
            <a:ext cx="9022080" cy="1410001"/>
          </a:xfrm>
          <a:prstGeom prst="rect">
            <a:avLst/>
          </a:prstGeom>
          <a:solidFill>
            <a:srgbClr val="D34817"/>
          </a:solidFill>
        </p:spPr>
        <p:txBody>
          <a:bodyPr vert="horz" wrap="square" lIns="0" tIns="88265" rIns="0" bIns="0" rtlCol="0" anchor="ctr">
            <a:spAutoFit/>
          </a:bodyPr>
          <a:lstStyle/>
          <a:p>
            <a:pPr marL="3300095" marR="2935605" indent="-57150">
              <a:lnSpc>
                <a:spcPct val="100000"/>
              </a:lnSpc>
              <a:spcBef>
                <a:spcPts val="695"/>
              </a:spcBef>
            </a:pP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PBL</a:t>
            </a:r>
            <a:r>
              <a:rPr sz="4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endParaRPr lang="en-US" sz="4000" b="1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3300095" marR="2935605" indent="-57150">
              <a:lnSpc>
                <a:spcPct val="100000"/>
              </a:lnSpc>
              <a:spcBef>
                <a:spcPts val="695"/>
              </a:spcBef>
            </a:pPr>
            <a:endParaRPr lang="en-US" sz="4000" b="1" spc="-1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432" y="228600"/>
            <a:ext cx="1142999" cy="114299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Department</a:t>
            </a:r>
            <a:r>
              <a:rPr sz="3200" b="1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of</a:t>
            </a:r>
            <a:r>
              <a:rPr sz="3200" b="1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Electrical</a:t>
            </a:r>
            <a:r>
              <a:rPr sz="3200" b="1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and</a:t>
            </a:r>
            <a:r>
              <a:rPr sz="3200" b="1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7F7F7F"/>
                </a:solidFill>
                <a:latin typeface="Times New Roman"/>
                <a:cs typeface="Times New Roman"/>
              </a:rPr>
              <a:t>Electronics Engineering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5E97E-592A-6FF2-272C-E44000D89C20}"/>
              </a:ext>
            </a:extLst>
          </p:cNvPr>
          <p:cNvSpPr txBox="1"/>
          <p:nvPr/>
        </p:nvSpPr>
        <p:spPr>
          <a:xfrm>
            <a:off x="1381431" y="2909979"/>
            <a:ext cx="7637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Polyglot Persistence Approach for a Decentralized News Platform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69755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18"/>
                </a:moveTo>
                <a:lnTo>
                  <a:pt x="3577" y="281165"/>
                </a:lnTo>
                <a:lnTo>
                  <a:pt x="13968" y="234633"/>
                </a:lnTo>
                <a:lnTo>
                  <a:pt x="30663" y="190832"/>
                </a:lnTo>
                <a:lnTo>
                  <a:pt x="53151" y="150274"/>
                </a:lnTo>
                <a:lnTo>
                  <a:pt x="80923" y="113467"/>
                </a:lnTo>
                <a:lnTo>
                  <a:pt x="113467" y="80923"/>
                </a:lnTo>
                <a:lnTo>
                  <a:pt x="150274" y="53151"/>
                </a:lnTo>
                <a:lnTo>
                  <a:pt x="190832" y="30663"/>
                </a:lnTo>
                <a:lnTo>
                  <a:pt x="234633" y="13968"/>
                </a:lnTo>
                <a:lnTo>
                  <a:pt x="281165" y="3577"/>
                </a:lnTo>
                <a:lnTo>
                  <a:pt x="329918" y="0"/>
                </a:lnTo>
                <a:lnTo>
                  <a:pt x="8683453" y="0"/>
                </a:lnTo>
                <a:lnTo>
                  <a:pt x="8735375" y="4109"/>
                </a:lnTo>
                <a:lnTo>
                  <a:pt x="8785551" y="16194"/>
                </a:lnTo>
                <a:lnTo>
                  <a:pt x="8833095" y="35888"/>
                </a:lnTo>
                <a:lnTo>
                  <a:pt x="8877120" y="62822"/>
                </a:lnTo>
                <a:lnTo>
                  <a:pt x="8916741" y="96630"/>
                </a:lnTo>
                <a:lnTo>
                  <a:pt x="8950549" y="136251"/>
                </a:lnTo>
                <a:lnTo>
                  <a:pt x="8977483" y="180276"/>
                </a:lnTo>
                <a:lnTo>
                  <a:pt x="8997177" y="227820"/>
                </a:lnTo>
                <a:lnTo>
                  <a:pt x="9009262" y="277995"/>
                </a:lnTo>
                <a:lnTo>
                  <a:pt x="9013371" y="329918"/>
                </a:lnTo>
                <a:lnTo>
                  <a:pt x="9013371" y="6363489"/>
                </a:lnTo>
                <a:lnTo>
                  <a:pt x="9009794" y="6412242"/>
                </a:lnTo>
                <a:lnTo>
                  <a:pt x="8999403" y="6458774"/>
                </a:lnTo>
                <a:lnTo>
                  <a:pt x="8982708" y="6502575"/>
                </a:lnTo>
                <a:lnTo>
                  <a:pt x="8960219" y="6543133"/>
                </a:lnTo>
                <a:lnTo>
                  <a:pt x="8932448" y="6579940"/>
                </a:lnTo>
                <a:lnTo>
                  <a:pt x="8899904" y="6612484"/>
                </a:lnTo>
                <a:lnTo>
                  <a:pt x="8863097" y="6640256"/>
                </a:lnTo>
                <a:lnTo>
                  <a:pt x="8822538" y="6662744"/>
                </a:lnTo>
                <a:lnTo>
                  <a:pt x="8778738" y="6679439"/>
                </a:lnTo>
                <a:lnTo>
                  <a:pt x="8732206" y="6689831"/>
                </a:lnTo>
                <a:lnTo>
                  <a:pt x="8683453" y="6693408"/>
                </a:lnTo>
                <a:lnTo>
                  <a:pt x="329918" y="6693408"/>
                </a:lnTo>
                <a:lnTo>
                  <a:pt x="281165" y="6689831"/>
                </a:lnTo>
                <a:lnTo>
                  <a:pt x="234633" y="6679439"/>
                </a:lnTo>
                <a:lnTo>
                  <a:pt x="190832" y="6662744"/>
                </a:lnTo>
                <a:lnTo>
                  <a:pt x="150274" y="6640256"/>
                </a:lnTo>
                <a:lnTo>
                  <a:pt x="113467" y="6612484"/>
                </a:lnTo>
                <a:lnTo>
                  <a:pt x="80923" y="6579940"/>
                </a:lnTo>
                <a:lnTo>
                  <a:pt x="53151" y="6543133"/>
                </a:lnTo>
                <a:lnTo>
                  <a:pt x="30663" y="6502575"/>
                </a:lnTo>
                <a:lnTo>
                  <a:pt x="13968" y="6458774"/>
                </a:lnTo>
                <a:lnTo>
                  <a:pt x="3577" y="6412242"/>
                </a:lnTo>
                <a:lnTo>
                  <a:pt x="0" y="6363489"/>
                </a:lnTo>
                <a:lnTo>
                  <a:pt x="0" y="32991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21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Outline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 indent="-343535">
              <a:lnSpc>
                <a:spcPct val="100000"/>
              </a:lnSpc>
              <a:spcBef>
                <a:spcPts val="100"/>
              </a:spcBef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pc="-10" dirty="0"/>
              <a:t>Introduction</a:t>
            </a:r>
          </a:p>
          <a:p>
            <a:pPr marL="515620" indent="-502920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15620" algn="l"/>
              </a:tabLst>
            </a:pPr>
            <a:r>
              <a:rPr dirty="0"/>
              <a:t>Project</a:t>
            </a:r>
            <a:r>
              <a:rPr spc="-50" dirty="0"/>
              <a:t> </a:t>
            </a:r>
            <a:r>
              <a:rPr dirty="0"/>
              <a:t>Aims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Objectives</a:t>
            </a:r>
          </a:p>
          <a:p>
            <a:pPr marL="515620" indent="-502920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15620" algn="l"/>
              </a:tabLst>
            </a:pPr>
            <a:r>
              <a:rPr dirty="0"/>
              <a:t>Background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Project</a:t>
            </a:r>
          </a:p>
          <a:p>
            <a:pPr marL="515620" indent="-502920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15620" algn="l"/>
              </a:tabLst>
            </a:pPr>
            <a:r>
              <a:rPr dirty="0"/>
              <a:t>Software</a:t>
            </a:r>
            <a:r>
              <a:rPr spc="-75" dirty="0"/>
              <a:t> </a:t>
            </a:r>
            <a:r>
              <a:rPr spc="-10" dirty="0"/>
              <a:t>Requirement</a:t>
            </a:r>
            <a:r>
              <a:rPr spc="-70" dirty="0"/>
              <a:t> </a:t>
            </a:r>
            <a:r>
              <a:rPr spc="-10" dirty="0"/>
              <a:t>Specification</a:t>
            </a:r>
          </a:p>
          <a:p>
            <a:pPr marL="515620" indent="-502920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15620" algn="l"/>
              </a:tabLst>
            </a:pPr>
            <a:r>
              <a:rPr dirty="0"/>
              <a:t>Existing</a:t>
            </a:r>
            <a:r>
              <a:rPr spc="-15" dirty="0"/>
              <a:t> </a:t>
            </a:r>
            <a:r>
              <a:rPr dirty="0"/>
              <a:t>Vs</a:t>
            </a:r>
            <a:r>
              <a:rPr spc="-5" dirty="0"/>
              <a:t> </a:t>
            </a:r>
            <a:r>
              <a:rPr spc="-10" dirty="0"/>
              <a:t>Proposed</a:t>
            </a:r>
          </a:p>
          <a:p>
            <a:pPr marL="515620" indent="-502920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15620" algn="l"/>
              </a:tabLst>
            </a:pPr>
            <a:r>
              <a:rPr dirty="0"/>
              <a:t>Software</a:t>
            </a:r>
            <a:r>
              <a:rPr spc="-80" dirty="0"/>
              <a:t> </a:t>
            </a:r>
            <a:r>
              <a:rPr dirty="0"/>
              <a:t>Tool</a:t>
            </a:r>
            <a:r>
              <a:rPr spc="-80" dirty="0"/>
              <a:t> </a:t>
            </a:r>
            <a:r>
              <a:rPr spc="-20" dirty="0"/>
              <a:t>Used</a:t>
            </a: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Table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(if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applicable)</a:t>
            </a:r>
            <a:endParaRPr sz="1800">
              <a:latin typeface="Times New Roman"/>
              <a:cs typeface="Times New Roman"/>
            </a:endParaRP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Diagram(if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any)</a:t>
            </a:r>
            <a:endParaRPr sz="1800">
              <a:latin typeface="Times New Roman"/>
              <a:cs typeface="Times New Roman"/>
            </a:endParaRP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>
              <a:latin typeface="Times New Roman"/>
              <a:cs typeface="Times New Roman"/>
            </a:endParaRP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Discussion</a:t>
            </a:r>
            <a:endParaRPr sz="1800">
              <a:latin typeface="Times New Roman"/>
              <a:cs typeface="Times New Roman"/>
            </a:endParaRP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spc="-10" dirty="0">
                <a:latin typeface="Times New Roman"/>
                <a:cs typeface="Times New Roman"/>
              </a:rPr>
              <a:t>Application</a:t>
            </a:r>
            <a:endParaRPr sz="1800">
              <a:latin typeface="Times New Roman"/>
              <a:cs typeface="Times New Roman"/>
            </a:endParaRP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Scope</a:t>
            </a:r>
            <a:endParaRPr sz="1800">
              <a:latin typeface="Times New Roman"/>
              <a:cs typeface="Times New Roman"/>
            </a:endParaRP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Individual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contribution</a:t>
            </a:r>
            <a:endParaRPr sz="1800">
              <a:latin typeface="Times New Roman"/>
              <a:cs typeface="Times New Roman"/>
            </a:endParaRPr>
          </a:p>
          <a:p>
            <a:pPr marL="533400" lvl="1" indent="-343535">
              <a:lnSpc>
                <a:spcPct val="100000"/>
              </a:lnSpc>
              <a:buClr>
                <a:srgbClr val="D34817"/>
              </a:buClr>
              <a:buSzPct val="83333"/>
              <a:buFont typeface="Segoe UI Symbol"/>
              <a:buChar char="⚫"/>
              <a:tabLst>
                <a:tab pos="53340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18430" y="6302883"/>
            <a:ext cx="657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7425" y="6274308"/>
            <a:ext cx="568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DoEEE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7778" y="6312407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A69F2-9E60-26F6-C81B-EF0A1C963A3C}"/>
              </a:ext>
            </a:extLst>
          </p:cNvPr>
          <p:cNvSpPr txBox="1"/>
          <p:nvPr/>
        </p:nvSpPr>
        <p:spPr>
          <a:xfrm>
            <a:off x="381000" y="1524000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MyNews</a:t>
            </a:r>
            <a:r>
              <a:rPr lang="en-US" dirty="0"/>
              <a:t> is a prototype web application for a real-time, user-driven news sharing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project's main goal is to demonstrate a modern database architecture called </a:t>
            </a:r>
            <a:r>
              <a:rPr lang="en-US" b="1" dirty="0"/>
              <a:t>Polyglot Persistence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Polyglot Persistence</a:t>
            </a:r>
            <a:r>
              <a:rPr lang="en-US" dirty="0"/>
              <a:t> is the concept of using multiple, different database technologies (e.g., SQL and NoSQL) within a single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Relational (SQL)</a:t>
            </a:r>
            <a:r>
              <a:rPr lang="en-US" dirty="0"/>
              <a:t> database for one type of data. (USER)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A </a:t>
            </a:r>
            <a:r>
              <a:rPr lang="en-IN" b="1" dirty="0"/>
              <a:t>Document (NoSQL)</a:t>
            </a:r>
            <a:r>
              <a:rPr lang="en-IN" dirty="0"/>
              <a:t> database for another. (NEWS)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655F-3DCC-1D9C-18A7-7311BAE4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B83DCB0-FB8B-D7EF-19FF-F3F4BC1919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Project Aims and Objectives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3332EDA-BD7D-0AFD-EC79-642C171F5B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4F8EE33-00D0-310C-86EA-ED0308F1CD6A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5F24653-F3A2-B135-AD1E-319672F5D3CA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749B327-5EE2-4A93-773B-15B2A7282CB4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393A365-9F77-6AA0-132A-F4C5AFFEB7B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72960-B39E-8FE7-75C9-AADFA3402936}"/>
              </a:ext>
            </a:extLst>
          </p:cNvPr>
          <p:cNvSpPr txBox="1"/>
          <p:nvPr/>
        </p:nvSpPr>
        <p:spPr>
          <a:xfrm>
            <a:off x="381000" y="1524000"/>
            <a:ext cx="838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AIM - </a:t>
            </a:r>
            <a:r>
              <a:rPr lang="en-US" dirty="0"/>
              <a:t> To design and demonstrate a functional backend system that intelligently uses both SQL and NoSQL databases to solve a real-world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OBJECTIVES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</a:t>
            </a:r>
            <a:r>
              <a:rPr lang="en-US" b="1" dirty="0"/>
              <a:t>PostgreSQL (SQL)</a:t>
            </a:r>
            <a:r>
              <a:rPr lang="en-US" dirty="0"/>
              <a:t> to store structured and relational data (User Accounts)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</a:t>
            </a:r>
            <a:r>
              <a:rPr lang="en-US" b="1" dirty="0"/>
              <a:t>MongoDB (NoSQL)</a:t>
            </a:r>
            <a:r>
              <a:rPr lang="en-US" dirty="0"/>
              <a:t> to store flexible, semi-structured data (News Posts, Votes).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create a Node.js API that connects to both databases and manages data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demonstrate the specific advantages of each database model (e.g., SQL integrity vs. NoSQL speed)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5335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3E2E-D59E-11B1-07F3-FF5D4C8A4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88F2BA7-A432-1731-2C6A-89259FF6AD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BACKGROUND OF PROJECT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2D1B831-601A-C79F-E95E-A9C8ACD050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2ABDAB8-2937-F5A0-7561-3EF0561284EC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20B60B7-19D2-D26E-5539-0A94C2A4B300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AD267BA-1455-8C12-9334-E4C9F538D528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B1F0074-E67B-BAF8-EDC6-8AEE4877476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18C2C6-6113-4C84-CADD-393E1EBC9A19}"/>
              </a:ext>
            </a:extLst>
          </p:cNvPr>
          <p:cNvSpPr txBox="1"/>
          <p:nvPr/>
        </p:nvSpPr>
        <p:spPr>
          <a:xfrm>
            <a:off x="381000" y="15240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applications often used a </a:t>
            </a:r>
            <a:r>
              <a:rPr lang="en-US" b="1" dirty="0"/>
              <a:t>monolithic approach</a:t>
            </a:r>
            <a:r>
              <a:rPr lang="en-US" dirty="0"/>
              <a:t>, forcing all data types into a single 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inefficient for modern web applications. For a news site: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 Data:</a:t>
            </a:r>
            <a:r>
              <a:rPr lang="en-US" dirty="0"/>
              <a:t> Needs to be structured, secure, and have guaranteed unique usernames. This is perfect for SQL.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Post Data:</a:t>
            </a:r>
            <a:r>
              <a:rPr lang="en-US" dirty="0"/>
              <a:t> Needs to be flexible (to add comments, tags later) and handle high-frequency updates (like upvotes). This is a poor fit for SQL, which would suffer from row-locking and slow performance.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020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53E9D-0481-C5A1-1225-60296253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EB07735-8AED-9950-DF5F-73640A3D9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Software Requirement Specification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B60577B-DDB3-FE88-F4E2-6BA8664123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204BAE0-E028-31B7-03BF-197443DB11E5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5B2702E-1E87-C16B-57E5-1B90BF6DF9A7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FE8F4BB-BBDC-32E9-FB3A-EE85205C7942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87C7D41-7F2D-70C4-2AD9-8CFB3365E38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6B5BB-87A1-B6AD-5618-7A142BEACE73}"/>
              </a:ext>
            </a:extLst>
          </p:cNvPr>
          <p:cNvSpPr txBox="1"/>
          <p:nvPr/>
        </p:nvSpPr>
        <p:spPr>
          <a:xfrm>
            <a:off x="381000" y="15240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Node.js (v18+) with 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SQL Database:</a:t>
            </a:r>
            <a:r>
              <a:rPr lang="en-IN" dirty="0"/>
              <a:t> 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NoSQL Database:</a:t>
            </a:r>
            <a:r>
              <a:rPr lang="en-IN" dirty="0"/>
              <a:t> 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 Libraries:</a:t>
            </a:r>
            <a:r>
              <a:rPr lang="en-US" dirty="0"/>
              <a:t> </a:t>
            </a:r>
            <a:r>
              <a:rPr lang="en-US" dirty="0" err="1"/>
              <a:t>pg</a:t>
            </a:r>
            <a:r>
              <a:rPr lang="en-US" dirty="0"/>
              <a:t> (for PostgreSQL), mongoose (for MongoDB)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Frontend:</a:t>
            </a:r>
            <a:r>
              <a:rPr lang="en-US" dirty="0"/>
              <a:t> HTML5, CSS3, and modern JavaScript (Fetch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Development Tools:</a:t>
            </a:r>
            <a:r>
              <a:rPr lang="en-US" dirty="0"/>
              <a:t> Visual Studio Code, </a:t>
            </a:r>
            <a:r>
              <a:rPr lang="en-US" dirty="0" err="1"/>
              <a:t>nodemon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 Viewers:</a:t>
            </a:r>
            <a:r>
              <a:rPr lang="en-US" dirty="0"/>
              <a:t> </a:t>
            </a:r>
            <a:r>
              <a:rPr lang="en-US" dirty="0" err="1"/>
              <a:t>pgAdmin</a:t>
            </a:r>
            <a:r>
              <a:rPr lang="en-US" dirty="0"/>
              <a:t> (for PostgreSQL) and MongoDB Compass (for MongoDB)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479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6AFC8-597B-D1BD-6BDD-B4AADD324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706E996-2209-34F2-3E11-8B1FF5810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Existing Vs Proposed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1FB8D6D-18E6-2D83-4714-8ECA678573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098DB09-2D1C-79F5-9DC1-DFC412A07734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2D8CBD0-8290-EB5D-E87D-D8C953BB2DE6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172D0A8-806D-A8FD-5AA9-0BC7CA1FA2C7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2288FF8-0F75-B5CD-D160-E65FD7FA47A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E3541-F1CE-5031-E3DD-948BBC58FAC6}"/>
              </a:ext>
            </a:extLst>
          </p:cNvPr>
          <p:cNvSpPr txBox="1"/>
          <p:nvPr/>
        </p:nvSpPr>
        <p:spPr>
          <a:xfrm>
            <a:off x="381000" y="1524000"/>
            <a:ext cx="838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Existing (Monolithic) Approach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everything (users and posts) in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Every upvote would be a slow UPDATE operation that could lock the post's row, causing bottlenecks. The schema for posts would be rigid and complex.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Proposed (Polyglot) 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Users in PostgreSQL (SQL):</a:t>
            </a:r>
            <a:r>
              <a:rPr lang="en-US" dirty="0"/>
              <a:t> Guarantees data integrity. We use a UNIQUE constraint to prevent duplicate usernames.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Posts in MongoDB (NoSQL):</a:t>
            </a:r>
            <a:r>
              <a:rPr lang="en-US" dirty="0"/>
              <a:t> Highly flexible schema. Upvoting is an extremely fast, </a:t>
            </a:r>
            <a:r>
              <a:rPr lang="en-US" b="1" dirty="0"/>
              <a:t>atomic $inc operation</a:t>
            </a:r>
            <a:r>
              <a:rPr lang="en-US" dirty="0"/>
              <a:t> that doesn't lock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r>
              <a:rPr lang="en-US" dirty="0"/>
              <a:t> High integrity for users, high speed and flexibility for posts.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2778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971C-F2B8-761F-DE3E-1628A786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FAB9972-2DEC-4170-6C05-B4212F297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Table Design (SQL)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BCB31EC-8D54-F4F2-5381-EF7F6763DC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911C18CE-5C21-60F4-0276-94487B30F641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36140D7-745C-7827-1627-7F481F6181B2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23FC7ED-C521-ED37-3FF2-937208CE9055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9DB1CB3-BEAB-1650-945E-121479FD51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6A804-F55B-1B25-9EF4-E0B428B5E884}"/>
              </a:ext>
            </a:extLst>
          </p:cNvPr>
          <p:cNvSpPr txBox="1"/>
          <p:nvPr/>
        </p:nvSpPr>
        <p:spPr>
          <a:xfrm>
            <a:off x="381000" y="1524000"/>
            <a:ext cx="838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- Table Name:</a:t>
            </a:r>
            <a:r>
              <a:rPr lang="en-IN" dirty="0"/>
              <a:t> users</a:t>
            </a:r>
            <a:r>
              <a:rPr lang="en-US" dirty="0"/>
              <a:t>.</a:t>
            </a:r>
          </a:p>
          <a:p>
            <a:r>
              <a:rPr lang="en-US" b="1" dirty="0"/>
              <a:t>- Schema: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user_id: (SERIAL, PRIMARY KEY) - Automatically increments.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username: (VARCHAR, UNIQUE, NOT NULL) - Enforces no duplicate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password_hash</a:t>
            </a:r>
            <a:r>
              <a:rPr lang="en-US" dirty="0"/>
              <a:t>: (VARCHAR, NOT NULL) - Stores the user's 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registered_at</a:t>
            </a:r>
            <a:r>
              <a:rPr lang="en-US" dirty="0"/>
              <a:t>: (TIMESTAMP) - Automatically set to the current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44B918-43E8-0B23-1C5F-0A130BEE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20" y="3340051"/>
            <a:ext cx="7014710" cy="284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17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91DC7-1A91-5846-FD75-C113B78B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782DBDA-111B-9504-B08D-DF6263742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ER Diagram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09AA721-7517-BD65-8DF0-E9A45EBD34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9A3BCBCD-9093-EFC2-4FA1-9AF207177792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2910796-5368-82A1-E9E1-B739479D542D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9AFFE68-51FC-BFA9-D410-7570494D4829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67B9C52-C36A-970C-8C5D-738D5CE23D7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4F5748-3F9A-EE03-8327-D10BA5F17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8" y="1845476"/>
            <a:ext cx="2748078" cy="3733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AE5B6B-7ABA-8289-CC1E-5E85E471A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155" y="2716874"/>
            <a:ext cx="4971195" cy="199100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813480-A60B-7CFB-D75F-39B6EF5CCC9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40456" y="3712376"/>
            <a:ext cx="15315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0D9922-74C6-C8BF-E25C-3D709EB11329}"/>
              </a:ext>
            </a:extLst>
          </p:cNvPr>
          <p:cNvSpPr txBox="1"/>
          <p:nvPr/>
        </p:nvSpPr>
        <p:spPr>
          <a:xfrm>
            <a:off x="3200400" y="3343044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Author_id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18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F6A47-857B-1A97-D2E1-658F7AEC5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4AA40A1-7691-540C-80FF-262CC4312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Schema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6A7469C-B2AD-EE91-5991-8844E9918C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798767E-454F-7B93-F961-CB74F370C752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90BB1AA-9E4A-2A56-342C-838D962FB2B3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0226742-5B93-B7F4-FAE1-3CEDB760F47D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92E3C72-5899-9211-E62C-B904B455337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9F14AA-D718-294A-5A3B-C68337352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20" y="1286256"/>
            <a:ext cx="6592129" cy="2531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83EE73-7CA3-A003-9E69-59B383AD3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43" y="3778758"/>
            <a:ext cx="6549375" cy="253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C720-2881-DAAE-304E-268AF82FF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62A8530-60A0-2176-66BA-9C98F584E8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Document Design (NoSQL)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C8D4ABD-C581-C334-1C40-F5254E68E1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968F62D-9C2E-D0AD-C5DD-B551FC44594D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3AEE3F1-CEC6-2A1C-33C7-F328D5C1FF86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FE5A9FA-7F93-C9DA-1E84-3AF515E3BFF4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BA972D8-A57F-DFC4-6C92-51453B80C17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4FE33-0578-E1B3-4C65-5813573BB534}"/>
              </a:ext>
            </a:extLst>
          </p:cNvPr>
          <p:cNvSpPr txBox="1"/>
          <p:nvPr/>
        </p:nvSpPr>
        <p:spPr>
          <a:xfrm>
            <a:off x="381000" y="152400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-Collection Name:</a:t>
            </a:r>
            <a:r>
              <a:rPr lang="en-IN" dirty="0"/>
              <a:t> posts</a:t>
            </a:r>
          </a:p>
          <a:p>
            <a:pPr marL="285750" indent="-285750">
              <a:buFontTx/>
              <a:buChar char="-"/>
            </a:pPr>
            <a:r>
              <a:rPr lang="en-IN" b="1" dirty="0"/>
              <a:t>Document Structure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author_id (Number) is the </a:t>
            </a:r>
            <a:r>
              <a:rPr lang="en-US" b="1" dirty="0"/>
              <a:t>logical link</a:t>
            </a:r>
            <a:r>
              <a:rPr lang="en-US" dirty="0"/>
              <a:t> that references the user_id in our PostgreSQL users table.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8F6E2C-57DA-1D6F-D930-EE7AC81B9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05" y="3138170"/>
            <a:ext cx="6001588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7D943-F61C-FA26-245D-8927D6A3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AF522F4-1A8A-50CD-0FC7-9E5D32706F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System Implementation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A745E7D-A404-B9D9-F722-A91BE5D4CA5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3C25C138-EC14-27E1-178F-6F253A57CC67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8FA9EDE-08A5-2810-0A5A-6180A2366320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4827DDD-D095-2BBC-A9E3-BBFF3AD5A26C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849EB39-A814-2F96-98DE-8A31CAC89ED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59E07-8DB0-7514-D313-6FB924955514}"/>
              </a:ext>
            </a:extLst>
          </p:cNvPr>
          <p:cNvSpPr txBox="1"/>
          <p:nvPr/>
        </p:nvSpPr>
        <p:spPr>
          <a:xfrm>
            <a:off x="381000" y="1524000"/>
            <a:ext cx="838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-</a:t>
            </a:r>
            <a:r>
              <a:rPr lang="en-US" dirty="0"/>
              <a:t>The system is a Node.js backend with several key API endpoints: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/register (POST):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Takes username and password.</a:t>
            </a:r>
          </a:p>
          <a:p>
            <a:r>
              <a:rPr lang="en-US" dirty="0"/>
              <a:t>Runs an INSERT query into the </a:t>
            </a:r>
            <a:r>
              <a:rPr lang="en-US" b="1" dirty="0"/>
              <a:t>PostgreSQL</a:t>
            </a:r>
            <a:r>
              <a:rPr lang="en-US" dirty="0"/>
              <a:t> users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/login	(POST):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Takes username and 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Runs a SELECT query on the </a:t>
            </a:r>
            <a:r>
              <a:rPr lang="en-US" b="1" dirty="0"/>
              <a:t>PostgreSQL</a:t>
            </a:r>
            <a:r>
              <a:rPr lang="en-US" dirty="0"/>
              <a:t> users table to verify credentials.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/posts (POST):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POLYGLOT LOGIC: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First, it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SELECTS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the author id is valid.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If valid, it INSERTs the new post document into the </a:t>
            </a:r>
            <a:r>
              <a:rPr lang="en-US" b="1" dirty="0"/>
              <a:t>MongoDB</a:t>
            </a:r>
            <a:r>
              <a:rPr lang="en-US" dirty="0"/>
              <a:t> posts collection.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/posts/:id/upvote (PUT):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Runs an atomic findByIdAndUpdate command in </a:t>
            </a:r>
            <a:r>
              <a:rPr lang="en-US" b="1" dirty="0"/>
              <a:t>MongoDB</a:t>
            </a:r>
            <a:r>
              <a:rPr lang="en-US" dirty="0"/>
              <a:t> using $inc to instantly increase the upvotes count.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0415C0E-8DF5-E95A-9BF5-A54C5C66D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First, it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SELECTS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the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author_id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valid.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034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CE97D-7456-31C1-2111-F1F469F9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4799558-6731-AB4D-CB2B-78CE82274D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Application &amp; Conclusion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3CDD388-F343-6E88-ED19-BB45F2638E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3F7E4C3-93C2-4E4D-2929-8B937B4829BD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FA09215-F336-9AF9-9904-160CF1236E07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5FF75A2-A0B6-E201-6727-E6950226857C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BE967A4-C965-5ED3-68A9-61A98727BC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155FB-89F8-1233-41DA-F62CB8E0F6ED}"/>
              </a:ext>
            </a:extLst>
          </p:cNvPr>
          <p:cNvSpPr txBox="1"/>
          <p:nvPr/>
        </p:nvSpPr>
        <p:spPr>
          <a:xfrm>
            <a:off x="381000" y="1524000"/>
            <a:ext cx="838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- </a:t>
            </a:r>
            <a:r>
              <a:rPr lang="en-US" b="1" dirty="0"/>
              <a:t>Application: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architecture is the standard for almost all modern, large-scale web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Examples: E-commerce sites (users/orders in SQL, product catalogs/reviews in NoSQL), social media, and IoT platforms.</a:t>
            </a:r>
          </a:p>
          <a:p>
            <a:r>
              <a:rPr lang="en-US" b="1" dirty="0"/>
              <a:t>- Conclusion: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"one size fits all" database model is obsolete.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Polyglot Persistence, as demonstrated by the MyNews project, provides a faster, more scalable, and more resilient solution for modern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successfully proved that SQL and NoSQL can be used together to build a superior system.</a:t>
            </a:r>
          </a:p>
          <a:p>
            <a:endParaRPr lang="en-US" b="1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B43AB34-CC52-7A80-31E9-B47D93B85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First, it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SELECTS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the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author_id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valid.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89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EB50-9C25-E03B-D3BF-A31B99A1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A4BD5C4-C63C-28EB-0398-6116F8576E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Future Scope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646C24F-5C27-FC58-AACC-4E390651FC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59D02C8-C5F1-6C35-8B83-AA42D84B542C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A8D2D6B-42E6-5595-6CD8-FA869F947DBE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29A643F-288A-C943-BCED-5F2C56918D2A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0B6C71-F595-DB9B-6485-65778D78D09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E716F-4032-F1CF-095D-0AED16ADA45E}"/>
              </a:ext>
            </a:extLst>
          </p:cNvPr>
          <p:cNvSpPr txBox="1"/>
          <p:nvPr/>
        </p:nvSpPr>
        <p:spPr>
          <a:xfrm>
            <a:off x="381000" y="15240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- </a:t>
            </a:r>
            <a:r>
              <a:rPr lang="en-US" b="1" dirty="0"/>
              <a:t>Full User Authentication:</a:t>
            </a:r>
            <a:r>
              <a:rPr lang="en-US" dirty="0"/>
              <a:t> Implement real password hashing (using </a:t>
            </a:r>
            <a:r>
              <a:rPr lang="en-US" dirty="0" err="1"/>
              <a:t>bcrypt</a:t>
            </a:r>
            <a:r>
              <a:rPr lang="en-US" dirty="0"/>
              <a:t>) instead of storing plain text.</a:t>
            </a:r>
          </a:p>
          <a:p>
            <a:r>
              <a:rPr lang="en-US" b="1" dirty="0"/>
              <a:t>- Expand NoSQL Schema:</a:t>
            </a:r>
            <a:r>
              <a:rPr lang="en-US" dirty="0"/>
              <a:t> Add a comments array directly inside the MongoDB post document, showing its flexibility.</a:t>
            </a:r>
          </a:p>
          <a:p>
            <a:r>
              <a:rPr lang="en-US" b="1" dirty="0"/>
              <a:t>- Cloud Deployment:</a:t>
            </a:r>
            <a:r>
              <a:rPr lang="en-US" dirty="0"/>
              <a:t> Deploy the application to the public internet using cloud services (e.g., Render for the backend, MongoDB Atlas, and a cloud PostgreSQL provider).</a:t>
            </a:r>
          </a:p>
          <a:p>
            <a:endParaRPr lang="en-US" b="1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0866D919-42C0-A1E4-1DAB-77AA29725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First, it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SELECTS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the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author_id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valid.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656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15E4-88BB-E15C-78C7-F0CBE81C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02B8438-D088-FBFD-8E44-486AA4379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REFERENCES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518F39A-4120-9561-7397-867011D972A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0324" cy="113385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2659263-CC6F-F844-0891-B16EC00A209A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68A2CD8-EC7B-9A2A-95FE-2359144B8F32}"/>
              </a:ext>
            </a:extLst>
          </p:cNvPr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7879E08-C457-0E19-F9F8-CB5E6233CDAD}"/>
              </a:ext>
            </a:extLst>
          </p:cNvPr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D16E354-48DE-2705-5C6C-58B64605242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15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78E11-3620-DF44-6D4A-7975179E8400}"/>
              </a:ext>
            </a:extLst>
          </p:cNvPr>
          <p:cNvSpPr txBox="1"/>
          <p:nvPr/>
        </p:nvSpPr>
        <p:spPr>
          <a:xfrm>
            <a:off x="352043" y="1478723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-</a:t>
            </a:r>
            <a:r>
              <a:rPr lang="en-IN" b="1" dirty="0">
                <a:hlinkClick r:id="rId3"/>
              </a:rPr>
              <a:t>https://nodejs.org/</a:t>
            </a:r>
            <a:r>
              <a:rPr lang="en-IN" b="1" dirty="0" err="1">
                <a:hlinkClick r:id="rId3"/>
              </a:rPr>
              <a:t>en</a:t>
            </a:r>
            <a:r>
              <a:rPr lang="en-IN" b="1" dirty="0">
                <a:hlinkClick r:id="rId3"/>
              </a:rPr>
              <a:t>/docs/</a:t>
            </a:r>
            <a:endParaRPr lang="en-IN" b="1" dirty="0"/>
          </a:p>
          <a:p>
            <a:r>
              <a:rPr lang="en-IN" b="1" dirty="0"/>
              <a:t>-</a:t>
            </a:r>
            <a:r>
              <a:rPr lang="en-IN" b="1" dirty="0">
                <a:hlinkClick r:id="rId4"/>
              </a:rPr>
              <a:t>https://www.mongodb.com/docs/</a:t>
            </a:r>
            <a:endParaRPr lang="en-IN" b="1" dirty="0"/>
          </a:p>
          <a:p>
            <a:r>
              <a:rPr lang="en-IN" b="1" dirty="0"/>
              <a:t>-</a:t>
            </a:r>
            <a:r>
              <a:rPr lang="en-IN" b="1" dirty="0">
                <a:hlinkClick r:id="rId5"/>
              </a:rPr>
              <a:t>https://www.postgresql.org/docs/</a:t>
            </a:r>
            <a:endParaRPr lang="en-US" b="1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8E75DB7-2380-A97D-FCAD-2CAB44745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First, it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SELECTS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the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author_id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valid.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856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16</a:t>
            </a:fld>
            <a:endParaRPr spc="-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8559-BDAB-EEB1-32EF-BD11EFAE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47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7425" y="6186988"/>
            <a:ext cx="30467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80"/>
              </a:lnSpc>
            </a:pP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School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Electronics</a:t>
            </a:r>
            <a:r>
              <a:rPr sz="1400" spc="-2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86464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 Communication 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8430" y="6322243"/>
            <a:ext cx="6578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686464"/>
                </a:solidFill>
                <a:latin typeface="Times New Roman"/>
                <a:cs typeface="Times New Roman"/>
              </a:rPr>
              <a:t>8/8/2024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18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Words>1187</Words>
  <Application>Microsoft Office PowerPoint</Application>
  <PresentationFormat>On-screen Show (4:3)</PresentationFormat>
  <Paragraphs>160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Unicode MS</vt:lpstr>
      <vt:lpstr>Arial</vt:lpstr>
      <vt:lpstr>Segoe UI Symbol</vt:lpstr>
      <vt:lpstr>Times New Roman</vt:lpstr>
      <vt:lpstr>Office Theme</vt:lpstr>
      <vt:lpstr>Department of Electrical and Electronics Engineering</vt:lpstr>
      <vt:lpstr>Outline</vt:lpstr>
      <vt:lpstr>Introduction</vt:lpstr>
      <vt:lpstr>Project Aims and Objectives</vt:lpstr>
      <vt:lpstr>BACKGROUND OF PROJECT</vt:lpstr>
      <vt:lpstr>Software Requirement Specification</vt:lpstr>
      <vt:lpstr>Existing Vs Proposed</vt:lpstr>
      <vt:lpstr>Table Design (SQL)</vt:lpstr>
      <vt:lpstr>ER Diagram</vt:lpstr>
      <vt:lpstr>Schema</vt:lpstr>
      <vt:lpstr>Document Design (NoSQL)</vt:lpstr>
      <vt:lpstr>System Implementation</vt:lpstr>
      <vt:lpstr>Application &amp; Conclusion</vt:lpstr>
      <vt:lpstr>Future Scope</vt:lpstr>
      <vt:lpstr>REFERENCES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Nishad</dc:creator>
  <cp:lastModifiedBy>Nishad Dere</cp:lastModifiedBy>
  <cp:revision>1</cp:revision>
  <dcterms:created xsi:type="dcterms:W3CDTF">2025-11-04T17:06:24Z</dcterms:created>
  <dcterms:modified xsi:type="dcterms:W3CDTF">2025-11-05T07:08:16Z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2025-11-04T00:00:00Z</vt:filetime>
  </property>
</Properties>
</file>